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1359-95C4-431E-9B5D-EECB1EA680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ECA6F-552F-46D4-B71D-0795B53DB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7820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1359-95C4-431E-9B5D-EECB1EA680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ECA6F-552F-46D4-B71D-0795B53DB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31942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1359-95C4-431E-9B5D-EECB1EA680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ECA6F-552F-46D4-B71D-0795B53DB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67825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1359-95C4-431E-9B5D-EECB1EA680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ECA6F-552F-46D4-B71D-0795B53DB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86857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1359-95C4-431E-9B5D-EECB1EA680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ECA6F-552F-46D4-B71D-0795B53DB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0855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1359-95C4-431E-9B5D-EECB1EA680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ECA6F-552F-46D4-B71D-0795B53DB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4816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1359-95C4-431E-9B5D-EECB1EA680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ECA6F-552F-46D4-B71D-0795B53DB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5511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1359-95C4-431E-9B5D-EECB1EA680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ECA6F-552F-46D4-B71D-0795B53DB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581881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50000"/>
              <a:lumOff val="5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1359-95C4-431E-9B5D-EECB1EA680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ECA6F-552F-46D4-B71D-0795B53DB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5743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1359-95C4-431E-9B5D-EECB1EA680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ECA6F-552F-46D4-B71D-0795B53DB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80414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01359-95C4-431E-9B5D-EECB1EA680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ECA6F-552F-46D4-B71D-0795B53DB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17213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fld id="{E9C01359-95C4-431E-9B5D-EECB1EA680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143ECA6F-552F-46D4-B71D-0795B53DB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414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20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8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6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146F5-11F0-412A-8BBA-4C46CAB1F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8712" y="1891551"/>
            <a:ext cx="7536269" cy="258147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err="1"/>
              <a:t>Kosi</a:t>
            </a:r>
            <a:r>
              <a:rPr lang="en-US" sz="4800" b="1" dirty="0"/>
              <a:t> </a:t>
            </a:r>
            <a:r>
              <a:rPr lang="en-US" sz="4800" b="1" dirty="0" err="1"/>
              <a:t>hitac</a:t>
            </a:r>
            <a:r>
              <a:rPr lang="en-US" sz="4800" b="1" dirty="0"/>
              <a:t> </a:t>
            </a:r>
            <a:r>
              <a:rPr lang="en-US" sz="4800" b="1" dirty="0" err="1"/>
              <a:t>razli</a:t>
            </a:r>
            <a:r>
              <a:rPr lang="hr-HR" sz="4800" b="1" dirty="0"/>
              <a:t>č</a:t>
            </a:r>
            <a:r>
              <a:rPr lang="en-US" sz="4800" b="1" dirty="0" err="1"/>
              <a:t>itih</a:t>
            </a:r>
            <a:r>
              <a:rPr lang="en-US" sz="4800" b="1" dirty="0"/>
              <a:t> </a:t>
            </a:r>
            <a:r>
              <a:rPr lang="en-US" sz="4800" b="1" dirty="0" err="1"/>
              <a:t>projektila</a:t>
            </a:r>
            <a:r>
              <a:rPr lang="en-US" sz="4800" b="1" dirty="0"/>
              <a:t> s </a:t>
            </a:r>
            <a:r>
              <a:rPr lang="en-US" sz="4800" b="1" dirty="0" err="1"/>
              <a:t>otporom</a:t>
            </a:r>
            <a:r>
              <a:rPr lang="en-US" sz="4800" b="1" dirty="0"/>
              <a:t> </a:t>
            </a:r>
            <a:r>
              <a:rPr lang="en-US" sz="4800" b="1" dirty="0" err="1"/>
              <a:t>zraka</a:t>
            </a:r>
            <a:endParaRPr lang="en-US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02909-1024-45F5-B768-F3D5823DD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544" y="5104109"/>
            <a:ext cx="7315200" cy="914400"/>
          </a:xfrm>
        </p:spPr>
        <p:txBody>
          <a:bodyPr/>
          <a:lstStyle/>
          <a:p>
            <a:pPr algn="r"/>
            <a:r>
              <a:rPr lang="it-IT" dirty="0"/>
              <a:t>Katarina Filipov</a:t>
            </a:r>
            <a:r>
              <a:rPr lang="hr-HR" dirty="0"/>
              <a:t>ić</a:t>
            </a:r>
            <a:r>
              <a:rPr lang="it-IT" dirty="0"/>
              <a:t> Split, 15.06.2026.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47D456-2725-4E1B-84D4-723EA652DF2F}"/>
              </a:ext>
            </a:extLst>
          </p:cNvPr>
          <p:cNvSpPr txBox="1"/>
          <p:nvPr/>
        </p:nvSpPr>
        <p:spPr>
          <a:xfrm>
            <a:off x="2241175" y="1296691"/>
            <a:ext cx="42313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Sveu</a:t>
            </a:r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ili</a:t>
            </a:r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Splitu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Prirodoslovno-matemati</a:t>
            </a:r>
            <a:r>
              <a:rPr lang="hr-HR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čk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fakultet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Odjel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fiziku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Programski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fizici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69145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D1B87-5FD5-44E7-8563-ADACE22C3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/>
              <a:t>Sažetak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D7BE9-62DD-4E99-A393-4E3478B35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739" y="864108"/>
            <a:ext cx="7315200" cy="5120640"/>
          </a:xfrm>
        </p:spPr>
        <p:txBody>
          <a:bodyPr/>
          <a:lstStyle/>
          <a:p>
            <a:r>
              <a:rPr lang="hr-HR" u="sng" dirty="0"/>
              <a:t>Ciljevi:</a:t>
            </a:r>
          </a:p>
          <a:p>
            <a:r>
              <a:rPr lang="hr-HR" dirty="0"/>
              <a:t>Ispitati kako </a:t>
            </a:r>
            <a:r>
              <a:rPr lang="en-US" dirty="0"/>
              <a:t>po</a:t>
            </a:r>
            <a:r>
              <a:rPr lang="hr-HR" dirty="0"/>
              <a:t>četni</a:t>
            </a:r>
            <a:r>
              <a:rPr lang="en-US" dirty="0"/>
              <a:t> </a:t>
            </a:r>
            <a:r>
              <a:rPr lang="en-US" dirty="0" err="1"/>
              <a:t>parametr</a:t>
            </a:r>
            <a:r>
              <a:rPr lang="hr-HR" dirty="0"/>
              <a:t>i utječu na gibanje projektila kod kosog hitca </a:t>
            </a:r>
          </a:p>
          <a:p>
            <a:r>
              <a:rPr lang="hr-HR" dirty="0"/>
              <a:t>Ispitati utjecaj geometrijskih svojstava projektila usporedbom gibanja kugle i kocke za iste početne uvjete </a:t>
            </a:r>
          </a:p>
          <a:p>
            <a:r>
              <a:rPr lang="hr-HR" dirty="0"/>
              <a:t>Računanje kutova pod kojima projektil pogađa metu</a:t>
            </a:r>
          </a:p>
        </p:txBody>
      </p:sp>
    </p:spTree>
    <p:extLst>
      <p:ext uri="{BB962C8B-B14F-4D97-AF65-F5344CB8AC3E}">
        <p14:creationId xmlns:p14="http://schemas.microsoft.com/office/powerpoint/2010/main" val="89881205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95B58-F9B4-4DEA-95E7-F656E89EA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/>
              <a:t>Fizika problema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A2B266-CCC7-4381-8ACC-77E3B1A3FE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27221" y="675849"/>
                <a:ext cx="7417297" cy="5120640"/>
              </a:xfrm>
            </p:spPr>
            <p:txBody>
              <a:bodyPr/>
              <a:lstStyle/>
              <a:p>
                <a:r>
                  <a:rPr lang="en-US" dirty="0"/>
                  <a:t>Kosi </a:t>
                </a:r>
                <a:r>
                  <a:rPr lang="en-US" dirty="0" err="1"/>
                  <a:t>hitac</a:t>
                </a:r>
                <a:r>
                  <a:rPr lang="hr-HR" dirty="0"/>
                  <a:t> - </a:t>
                </a:r>
                <a:r>
                  <a:rPr lang="en-US" dirty="0" err="1"/>
                  <a:t>gibanje</a:t>
                </a:r>
                <a:r>
                  <a:rPr lang="en-US" dirty="0"/>
                  <a:t> </a:t>
                </a:r>
                <a:r>
                  <a:rPr lang="en-US" dirty="0" err="1"/>
                  <a:t>tijela</a:t>
                </a:r>
                <a:r>
                  <a:rPr lang="en-US" dirty="0"/>
                  <a:t> u </a:t>
                </a:r>
                <a:r>
                  <a:rPr lang="en-US" dirty="0" err="1"/>
                  <a:t>homogenom</a:t>
                </a:r>
                <a:r>
                  <a:rPr lang="en-US" dirty="0"/>
                  <a:t> </a:t>
                </a:r>
                <a:r>
                  <a:rPr lang="en-US" dirty="0" err="1"/>
                  <a:t>gravitacijskom</a:t>
                </a:r>
                <a:r>
                  <a:rPr lang="en-US" dirty="0"/>
                  <a:t> </a:t>
                </a:r>
                <a:r>
                  <a:rPr lang="en-US" dirty="0" err="1"/>
                  <a:t>polju</a:t>
                </a:r>
                <a:r>
                  <a:rPr lang="en-US" dirty="0"/>
                  <a:t> pod </a:t>
                </a:r>
                <a:r>
                  <a:rPr lang="en-US" dirty="0" err="1"/>
                  <a:t>nekim</a:t>
                </a:r>
                <a:r>
                  <a:rPr lang="en-US" dirty="0"/>
                  <a:t> </a:t>
                </a:r>
                <a:r>
                  <a:rPr lang="en-US" dirty="0" err="1"/>
                  <a:t>kutom</a:t>
                </a:r>
                <a:r>
                  <a:rPr lang="en-US" dirty="0"/>
                  <a:t> u </a:t>
                </a:r>
                <a:r>
                  <a:rPr lang="en-US" dirty="0" err="1"/>
                  <a:t>odnosu</a:t>
                </a:r>
                <a:r>
                  <a:rPr lang="en-US" dirty="0"/>
                  <a:t> </a:t>
                </a:r>
                <a:r>
                  <a:rPr lang="en-US" dirty="0" err="1"/>
                  <a:t>na</a:t>
                </a:r>
                <a:r>
                  <a:rPr lang="en-US" dirty="0"/>
                  <a:t> horizontal</a:t>
                </a:r>
                <a:r>
                  <a:rPr lang="hr-HR" dirty="0"/>
                  <a:t>u, sastoji se od dva neovisna gibanja</a:t>
                </a:r>
              </a:p>
              <a:p>
                <a:r>
                  <a:rPr lang="hr-HR" dirty="0"/>
                  <a:t>Veće brzine: </a:t>
                </a:r>
                <a:r>
                  <a:rPr lang="en-US" dirty="0"/>
                  <a:t>k∼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r-H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hr-H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hr-HR" dirty="0"/>
              </a:p>
              <a:p>
                <a14:m>
                  <m:oMath xmlns:m="http://schemas.openxmlformats.org/officeDocument/2006/math">
                    <m:r>
                      <a:rPr lang="hr-HR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hr-HR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r-H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hr-H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nor/>
                      </m:rPr>
                      <a:rPr lang="en-US" dirty="0"/>
                      <m:t>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r-HR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hr-HR" i="1" dirty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m:rPr>
                        <m:nor/>
                      </m:rPr>
                      <a:rPr lang="el-GR" dirty="0"/>
                      <m:t>ρ</m:t>
                    </m:r>
                    <m:r>
                      <m:rPr>
                        <m:nor/>
                      </m:rPr>
                      <a:rPr lang="hr-HR" b="0" i="0" dirty="0" smtClean="0"/>
                      <m:t>A</m:t>
                    </m:r>
                    <m:sSup>
                      <m:sSupPr>
                        <m:ctrlPr>
                          <a:rPr lang="hr-HR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r-HR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hr-H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hr-H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r-HR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hr-HR" i="1" dirty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hr-H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r-HR" dirty="0"/>
                  <a:t> </a:t>
                </a:r>
                <a:r>
                  <a:rPr lang="en-US" dirty="0"/>
                  <a:t>koeficijent </a:t>
                </a:r>
                <a:r>
                  <a:rPr lang="en-US" dirty="0" err="1"/>
                  <a:t>otpora</a:t>
                </a:r>
                <a:r>
                  <a:rPr lang="en-US" dirty="0"/>
                  <a:t> koji </a:t>
                </a:r>
                <a:r>
                  <a:rPr lang="en-US" dirty="0" err="1"/>
                  <a:t>ovisi</a:t>
                </a:r>
                <a:r>
                  <a:rPr lang="en-US" dirty="0"/>
                  <a:t> o </a:t>
                </a:r>
                <a:r>
                  <a:rPr lang="en-US" dirty="0" err="1"/>
                  <a:t>obliku</a:t>
                </a:r>
                <a:r>
                  <a:rPr lang="hr-HR" dirty="0"/>
                  <a:t>; z</a:t>
                </a:r>
                <a:r>
                  <a:rPr lang="en-US" dirty="0"/>
                  <a:t>a </a:t>
                </a:r>
                <a:r>
                  <a:rPr lang="en-US" dirty="0" err="1"/>
                  <a:t>kuglu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r-HR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hr-HR" i="1" dirty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/>
                  <a:t> = 0.47, a za </a:t>
                </a:r>
                <a:r>
                  <a:rPr lang="en-US" dirty="0" err="1"/>
                  <a:t>kocku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r-HR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hr-HR" i="1" dirty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/>
                  <a:t> = 1.05. </a:t>
                </a:r>
                <a:endParaRPr lang="hr-HR" dirty="0"/>
              </a:p>
              <a:p>
                <a:r>
                  <a:rPr lang="el-GR" dirty="0"/>
                  <a:t>ρ </a:t>
                </a:r>
                <a:r>
                  <a:rPr lang="en-US" dirty="0"/>
                  <a:t>je gust</a:t>
                </a:r>
                <a:r>
                  <a:rPr lang="hr-HR" dirty="0"/>
                  <a:t>oć</a:t>
                </a:r>
                <a:r>
                  <a:rPr lang="en-US" dirty="0"/>
                  <a:t>a </a:t>
                </a:r>
                <a:r>
                  <a:rPr lang="en-US" dirty="0" err="1"/>
                  <a:t>zraka</a:t>
                </a:r>
                <a:r>
                  <a:rPr lang="en-US" dirty="0"/>
                  <a:t>, A je </a:t>
                </a:r>
                <a:r>
                  <a:rPr lang="en-US" dirty="0" err="1"/>
                  <a:t>popr</a:t>
                </a:r>
                <a:r>
                  <a:rPr lang="hr-HR" dirty="0"/>
                  <a:t>eč</a:t>
                </a:r>
                <a:r>
                  <a:rPr lang="en-US" dirty="0" err="1"/>
                  <a:t>ni</a:t>
                </a:r>
                <a:r>
                  <a:rPr lang="en-US" dirty="0"/>
                  <a:t> </a:t>
                </a:r>
                <a:r>
                  <a:rPr lang="en-US" dirty="0" err="1"/>
                  <a:t>presjek</a:t>
                </a:r>
                <a:r>
                  <a:rPr lang="en-US" dirty="0"/>
                  <a:t> </a:t>
                </a:r>
                <a:r>
                  <a:rPr lang="en-US" dirty="0" err="1"/>
                  <a:t>projektila</a:t>
                </a:r>
                <a:r>
                  <a:rPr lang="en-US" dirty="0"/>
                  <a:t> </a:t>
                </a:r>
                <a:r>
                  <a:rPr lang="en-US" dirty="0" err="1"/>
                  <a:t>okomit</a:t>
                </a:r>
                <a:r>
                  <a:rPr lang="en-US" dirty="0"/>
                  <a:t> </a:t>
                </a:r>
                <a:r>
                  <a:rPr lang="en-US" dirty="0" err="1"/>
                  <a:t>na</a:t>
                </a:r>
                <a:r>
                  <a:rPr lang="en-US" dirty="0"/>
                  <a:t> </a:t>
                </a:r>
                <a:r>
                  <a:rPr lang="en-US" dirty="0" err="1"/>
                  <a:t>smjer</a:t>
                </a:r>
                <a:r>
                  <a:rPr lang="en-US" dirty="0"/>
                  <a:t> </a:t>
                </a:r>
                <a:r>
                  <a:rPr lang="en-US" dirty="0" err="1"/>
                  <a:t>gibanja</a:t>
                </a:r>
                <a:r>
                  <a:rPr lang="en-US" dirty="0"/>
                  <a:t>, a v </a:t>
                </a:r>
                <a:r>
                  <a:rPr lang="en-US" dirty="0" err="1"/>
                  <a:t>trenutna</a:t>
                </a:r>
                <a:r>
                  <a:rPr lang="en-US" dirty="0"/>
                  <a:t> </a:t>
                </a:r>
                <a:r>
                  <a:rPr lang="en-US" dirty="0" err="1"/>
                  <a:t>brzina</a:t>
                </a:r>
                <a:endParaRPr lang="hr-H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A2B266-CCC7-4381-8ACC-77E3B1A3FE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27221" y="675849"/>
                <a:ext cx="7417297" cy="5120640"/>
              </a:xfrm>
              <a:blipFill>
                <a:blip r:embed="rId2"/>
                <a:stretch>
                  <a:fillRect l="-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62210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DDA14-188F-4621-87C0-AB01F2514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Klasa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18705C-0AA5-434F-9ACA-D7EC97B32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463" y="1481161"/>
            <a:ext cx="5387807" cy="5105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67FC2C-8F1C-4C80-A2FF-6079803B3C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463" y="3341700"/>
            <a:ext cx="7773074" cy="272057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4844388-0E16-4500-BD0F-6B6CC7438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463" y="620393"/>
            <a:ext cx="7315200" cy="1371352"/>
          </a:xfrm>
        </p:spPr>
        <p:txBody>
          <a:bodyPr/>
          <a:lstStyle/>
          <a:p>
            <a:r>
              <a:rPr lang="hr-HR" dirty="0">
                <a:solidFill>
                  <a:schemeClr val="tx1"/>
                </a:solidFill>
              </a:rPr>
              <a:t>Klasa </a:t>
            </a:r>
            <a:r>
              <a:rPr lang="hr-HR" i="1" dirty="0">
                <a:solidFill>
                  <a:schemeClr val="tx1"/>
                </a:solidFill>
              </a:rPr>
              <a:t>Projectile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543198-FAB6-4B34-8D5C-8B420B03CCBB}"/>
              </a:ext>
            </a:extLst>
          </p:cNvPr>
          <p:cNvSpPr txBox="1"/>
          <p:nvPr/>
        </p:nvSpPr>
        <p:spPr>
          <a:xfrm>
            <a:off x="3733463" y="2683237"/>
            <a:ext cx="5898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Otpor zraka je promjenjiv – dodajemo unutarnju metodu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85146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5F54-6982-4D1C-A5B0-B31FD1E01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Metoda računanja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8A61A-FA84-44BE-A151-4DA9DFBE8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9621" y="248792"/>
            <a:ext cx="7315200" cy="875045"/>
          </a:xfrm>
        </p:spPr>
        <p:txBody>
          <a:bodyPr/>
          <a:lstStyle/>
          <a:p>
            <a:r>
              <a:rPr lang="en-US" dirty="0"/>
              <a:t>Runge-</a:t>
            </a:r>
            <a:r>
              <a:rPr lang="en-US" dirty="0" err="1"/>
              <a:t>Kutta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4. </a:t>
            </a:r>
            <a:r>
              <a:rPr lang="en-US" dirty="0" err="1"/>
              <a:t>reda</a:t>
            </a:r>
            <a:r>
              <a:rPr lang="hr-HR" dirty="0"/>
              <a:t>, primjer za prva dva koeficijenta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0687E8-3547-4119-B52B-79939FAE3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148" y="989366"/>
            <a:ext cx="3410073" cy="25147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01E8BF-2E29-4765-8542-0604A906F7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148" y="3957744"/>
            <a:ext cx="3673158" cy="19966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DE4C0E-6777-4BC9-9C94-671107314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3310" y="3143697"/>
            <a:ext cx="2712955" cy="105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5926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1B23-FE0F-4741-8FD0-86C23C20D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Pronalazak mogućih kutova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7E7B32-4E01-4DCF-87E1-0E27BBAA0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0498" y="2280532"/>
            <a:ext cx="3885203" cy="1493610"/>
          </a:xfrm>
        </p:spPr>
        <p:txBody>
          <a:bodyPr/>
          <a:lstStyle/>
          <a:p>
            <a:r>
              <a:rPr lang="en-US" dirty="0"/>
              <a:t>nova </a:t>
            </a: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programu</a:t>
            </a:r>
            <a:r>
              <a:rPr lang="en-US" dirty="0"/>
              <a:t> </a:t>
            </a:r>
            <a:r>
              <a:rPr lang="en-US" dirty="0" err="1"/>
              <a:t>dodaje</a:t>
            </a:r>
            <a:r>
              <a:rPr lang="en-US" dirty="0"/>
              <a:t> </a:t>
            </a:r>
            <a:r>
              <a:rPr lang="en-US" dirty="0" err="1"/>
              <a:t>funkciju</a:t>
            </a:r>
            <a:r>
              <a:rPr lang="en-US" dirty="0"/>
              <a:t> </a:t>
            </a:r>
            <a:r>
              <a:rPr lang="en-US" dirty="0" err="1"/>
              <a:t>pronalaska</a:t>
            </a:r>
            <a:r>
              <a:rPr lang="en-US" dirty="0"/>
              <a:t> </a:t>
            </a:r>
            <a:r>
              <a:rPr lang="en-US" dirty="0" err="1"/>
              <a:t>kutova</a:t>
            </a:r>
            <a:r>
              <a:rPr lang="hr-HR" dirty="0"/>
              <a:t> </a:t>
            </a:r>
            <a:r>
              <a:rPr lang="en-US" dirty="0"/>
              <a:t>pod </a:t>
            </a:r>
            <a:r>
              <a:rPr lang="en-US" dirty="0" err="1"/>
              <a:t>kojima</a:t>
            </a:r>
            <a:r>
              <a:rPr lang="en-US" dirty="0"/>
              <a:t> </a:t>
            </a:r>
            <a:r>
              <a:rPr lang="hr-HR" dirty="0"/>
              <a:t>ć</a:t>
            </a:r>
            <a:r>
              <a:rPr lang="en-US" dirty="0"/>
              <a:t>e </a:t>
            </a:r>
            <a:r>
              <a:rPr lang="en-US" dirty="0" err="1"/>
              <a:t>projektil</a:t>
            </a:r>
            <a:r>
              <a:rPr lang="en-US" dirty="0"/>
              <a:t> </a:t>
            </a:r>
            <a:r>
              <a:rPr lang="en-US" dirty="0" err="1"/>
              <a:t>pogoditi</a:t>
            </a:r>
            <a:r>
              <a:rPr lang="en-US" dirty="0"/>
              <a:t> </a:t>
            </a:r>
            <a:r>
              <a:rPr lang="en-US" dirty="0" err="1"/>
              <a:t>metu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0B44B4-6D7D-4AF8-8E11-5757975A9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484" y="631026"/>
            <a:ext cx="3696020" cy="44047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864CB1-395B-4B38-9535-35776A99B0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332" y="5327084"/>
            <a:ext cx="6354244" cy="13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73146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2760A-0F2E-436F-A84B-41AA5F59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Gibanje kugle i kocke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6D72D-A385-436D-BA87-6DA7581D9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1666" y="378389"/>
            <a:ext cx="7524873" cy="1126057"/>
          </a:xfrm>
        </p:spPr>
        <p:txBody>
          <a:bodyPr>
            <a:normAutofit fontScale="92500" lnSpcReduction="10000"/>
          </a:bodyPr>
          <a:lstStyle/>
          <a:p>
            <a:r>
              <a:rPr lang="hr-HR" dirty="0"/>
              <a:t>K</a:t>
            </a:r>
            <a:r>
              <a:rPr lang="en-US" dirty="0" err="1"/>
              <a:t>lasa</a:t>
            </a:r>
            <a:r>
              <a:rPr lang="en-US" dirty="0"/>
              <a:t> </a:t>
            </a:r>
            <a:r>
              <a:rPr lang="hr-HR" dirty="0"/>
              <a:t>je </a:t>
            </a:r>
            <a:r>
              <a:rPr lang="en-US" dirty="0" err="1"/>
              <a:t>spremna</a:t>
            </a:r>
            <a:r>
              <a:rPr lang="en-US" dirty="0"/>
              <a:t> za</a:t>
            </a:r>
            <a:r>
              <a:rPr lang="hr-HR" dirty="0"/>
              <a:t> </a:t>
            </a:r>
            <a:r>
              <a:rPr lang="en-US" dirty="0" err="1"/>
              <a:t>kori</a:t>
            </a:r>
            <a:r>
              <a:rPr lang="hr-HR" dirty="0"/>
              <a:t>š</a:t>
            </a:r>
            <a:r>
              <a:rPr lang="en-US" dirty="0" err="1"/>
              <a:t>tenje</a:t>
            </a:r>
            <a:r>
              <a:rPr lang="en-US" dirty="0"/>
              <a:t> u </a:t>
            </a:r>
            <a:r>
              <a:rPr lang="en-US" dirty="0" err="1"/>
              <a:t>zadatku</a:t>
            </a:r>
            <a:r>
              <a:rPr lang="en-US" dirty="0"/>
              <a:t> </a:t>
            </a:r>
            <a:r>
              <a:rPr lang="en-US" dirty="0" err="1"/>
              <a:t>pomo</a:t>
            </a:r>
            <a:r>
              <a:rPr lang="hr-HR" dirty="0"/>
              <a:t>ću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”import” </a:t>
            </a:r>
            <a:endParaRPr lang="hr-HR" dirty="0"/>
          </a:p>
          <a:p>
            <a:r>
              <a:rPr lang="hr-HR" dirty="0"/>
              <a:t>S</a:t>
            </a:r>
            <a:r>
              <a:rPr lang="en-US" dirty="0" err="1"/>
              <a:t>tvoreni</a:t>
            </a:r>
            <a:r>
              <a:rPr lang="en-US" dirty="0"/>
              <a:t> </a:t>
            </a:r>
            <a:r>
              <a:rPr lang="en-US" dirty="0" err="1"/>
              <a:t>objekti</a:t>
            </a:r>
            <a:r>
              <a:rPr lang="en-US" dirty="0"/>
              <a:t> </a:t>
            </a:r>
            <a:r>
              <a:rPr lang="en-US" dirty="0" err="1"/>
              <a:t>pomo</a:t>
            </a:r>
            <a:r>
              <a:rPr lang="hr-HR" dirty="0"/>
              <a:t>ć</a:t>
            </a:r>
            <a:r>
              <a:rPr lang="en-US" dirty="0"/>
              <a:t>u </a:t>
            </a:r>
            <a:r>
              <a:rPr lang="en-US" dirty="0" err="1"/>
              <a:t>uvezene</a:t>
            </a:r>
            <a:r>
              <a:rPr lang="en-US" dirty="0"/>
              <a:t> </a:t>
            </a:r>
            <a:r>
              <a:rPr lang="en-US" dirty="0" err="1"/>
              <a:t>klase</a:t>
            </a:r>
            <a:endParaRPr lang="hr-HR" dirty="0"/>
          </a:p>
          <a:p>
            <a:r>
              <a:rPr lang="hr-HR" dirty="0"/>
              <a:t>Graf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5C1E70-92DD-414A-99DB-2CBAF2649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219" y="1601820"/>
            <a:ext cx="5619815" cy="34032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07D730-B0BD-4B09-9A26-EB30D8DE1095}"/>
              </a:ext>
            </a:extLst>
          </p:cNvPr>
          <p:cNvSpPr txBox="1"/>
          <p:nvPr/>
        </p:nvSpPr>
        <p:spPr>
          <a:xfrm>
            <a:off x="3567953" y="5263355"/>
            <a:ext cx="8301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Oč</a:t>
            </a:r>
            <a:r>
              <a:rPr lang="en-US" dirty="0" err="1"/>
              <a:t>ekivani</a:t>
            </a:r>
            <a:r>
              <a:rPr lang="en-US" dirty="0"/>
              <a:t> </a:t>
            </a:r>
            <a:r>
              <a:rPr lang="en-US" dirty="0" err="1"/>
              <a:t>rezultat</a:t>
            </a:r>
            <a:r>
              <a:rPr lang="hr-HR" dirty="0"/>
              <a:t> – </a:t>
            </a:r>
            <a:r>
              <a:rPr lang="en-US" dirty="0" err="1"/>
              <a:t>domet</a:t>
            </a:r>
            <a:r>
              <a:rPr lang="hr-HR" dirty="0"/>
              <a:t> </a:t>
            </a:r>
            <a:r>
              <a:rPr lang="en-US" dirty="0" err="1"/>
              <a:t>kocke</a:t>
            </a:r>
            <a:r>
              <a:rPr lang="en-US" dirty="0"/>
              <a:t> </a:t>
            </a:r>
            <a:r>
              <a:rPr lang="en-US" dirty="0" err="1"/>
              <a:t>manji</a:t>
            </a:r>
            <a:r>
              <a:rPr lang="en-US" dirty="0"/>
              <a:t> za </a:t>
            </a:r>
            <a:r>
              <a:rPr lang="en-US" dirty="0" err="1"/>
              <a:t>iste</a:t>
            </a:r>
            <a:r>
              <a:rPr lang="en-US" dirty="0"/>
              <a:t> po</a:t>
            </a:r>
            <a:r>
              <a:rPr lang="hr-HR" dirty="0"/>
              <a:t>č</a:t>
            </a:r>
            <a:r>
              <a:rPr lang="en-US" dirty="0" err="1"/>
              <a:t>etne</a:t>
            </a:r>
            <a:r>
              <a:rPr lang="en-US" dirty="0"/>
              <a:t> </a:t>
            </a:r>
            <a:r>
              <a:rPr lang="en-US" dirty="0" err="1"/>
              <a:t>uvjete</a:t>
            </a:r>
            <a:r>
              <a:rPr lang="en-US" dirty="0"/>
              <a:t> (</a:t>
            </a:r>
            <a:r>
              <a:rPr lang="en-US" dirty="0" err="1"/>
              <a:t>kugla</a:t>
            </a:r>
            <a:r>
              <a:rPr lang="en-US" dirty="0"/>
              <a:t> je </a:t>
            </a:r>
            <a:r>
              <a:rPr lang="en-US" dirty="0" err="1"/>
              <a:t>takve</a:t>
            </a:r>
            <a:r>
              <a:rPr lang="en-US" dirty="0"/>
              <a:t> </a:t>
            </a:r>
            <a:r>
              <a:rPr lang="en-US" dirty="0" err="1"/>
              <a:t>veli</a:t>
            </a:r>
            <a:r>
              <a:rPr lang="hr-HR" dirty="0"/>
              <a:t>č</a:t>
            </a:r>
            <a:r>
              <a:rPr lang="en-US" dirty="0" err="1"/>
              <a:t>ine</a:t>
            </a:r>
            <a:r>
              <a:rPr lang="en-US" dirty="0"/>
              <a:t> da se </a:t>
            </a:r>
            <a:r>
              <a:rPr lang="en-US" dirty="0" err="1"/>
              <a:t>mo</a:t>
            </a:r>
            <a:r>
              <a:rPr lang="hr-HR" dirty="0"/>
              <a:t>ž</a:t>
            </a:r>
            <a:r>
              <a:rPr lang="en-US" dirty="0"/>
              <a:t>e </a:t>
            </a:r>
            <a:r>
              <a:rPr lang="en-US" dirty="0" err="1"/>
              <a:t>upisati</a:t>
            </a:r>
            <a:r>
              <a:rPr lang="en-US" dirty="0"/>
              <a:t> u </a:t>
            </a:r>
            <a:r>
              <a:rPr lang="en-US" dirty="0" err="1"/>
              <a:t>kocku</a:t>
            </a:r>
            <a:r>
              <a:rPr lang="en-US" dirty="0"/>
              <a:t>,</a:t>
            </a:r>
            <a:r>
              <a:rPr lang="hr-HR" dirty="0"/>
              <a:t> </a:t>
            </a:r>
            <a:r>
              <a:rPr lang="en-US" dirty="0"/>
              <a:t>u </a:t>
            </a:r>
            <a:r>
              <a:rPr lang="en-US" dirty="0" err="1"/>
              <a:t>primjeru</a:t>
            </a:r>
            <a:r>
              <a:rPr lang="en-US" dirty="0"/>
              <a:t> je </a:t>
            </a:r>
            <a:r>
              <a:rPr lang="en-US" dirty="0" err="1"/>
              <a:t>radijus</a:t>
            </a:r>
            <a:r>
              <a:rPr lang="en-US" dirty="0"/>
              <a:t> r=0.1m, a </a:t>
            </a:r>
            <a:r>
              <a:rPr lang="en-US" dirty="0" err="1"/>
              <a:t>duljina</a:t>
            </a:r>
            <a:r>
              <a:rPr lang="en-US" dirty="0"/>
              <a:t> </a:t>
            </a:r>
            <a:r>
              <a:rPr lang="en-US" dirty="0" err="1"/>
              <a:t>brida</a:t>
            </a:r>
            <a:r>
              <a:rPr lang="en-US" dirty="0"/>
              <a:t> </a:t>
            </a:r>
            <a:r>
              <a:rPr lang="en-US" dirty="0" err="1"/>
              <a:t>kocke</a:t>
            </a:r>
            <a:r>
              <a:rPr lang="en-US" dirty="0"/>
              <a:t> a=0.2m)</a:t>
            </a:r>
          </a:p>
        </p:txBody>
      </p:sp>
    </p:spTree>
    <p:extLst>
      <p:ext uri="{BB962C8B-B14F-4D97-AF65-F5344CB8AC3E}">
        <p14:creationId xmlns:p14="http://schemas.microsoft.com/office/powerpoint/2010/main" val="388526311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BDCA-C334-4CF9-9AB1-584C40E00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Pogađanje mete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B6519-BD40-48EA-BD20-F3D2A546B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Dobiven </a:t>
            </a:r>
            <a:r>
              <a:rPr lang="en-US" dirty="0" err="1"/>
              <a:t>veliki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sli</a:t>
            </a:r>
            <a:r>
              <a:rPr lang="hr-HR" dirty="0"/>
              <a:t>č</a:t>
            </a:r>
            <a:r>
              <a:rPr lang="en-US" dirty="0" err="1"/>
              <a:t>nih</a:t>
            </a:r>
            <a:r>
              <a:rPr lang="hr-HR" dirty="0"/>
              <a:t> </a:t>
            </a:r>
            <a:r>
              <a:rPr lang="en-US" dirty="0" err="1"/>
              <a:t>kutova</a:t>
            </a:r>
            <a:r>
              <a:rPr lang="hr-HR" dirty="0"/>
              <a:t> (</a:t>
            </a:r>
            <a:r>
              <a:rPr lang="en-US" dirty="0" err="1"/>
              <a:t>projektil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meta </a:t>
            </a:r>
            <a:r>
              <a:rPr lang="en-US" dirty="0" err="1"/>
              <a:t>nisu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to</a:t>
            </a:r>
            <a:r>
              <a:rPr lang="hr-HR" dirty="0"/>
              <a:t>č</a:t>
            </a:r>
            <a:r>
              <a:rPr lang="en-US" dirty="0" err="1"/>
              <a:t>ke</a:t>
            </a:r>
            <a:r>
              <a:rPr lang="hr-HR" dirty="0"/>
              <a:t> </a:t>
            </a:r>
            <a:r>
              <a:rPr lang="en-US" dirty="0"/>
              <a:t>u </a:t>
            </a:r>
            <a:r>
              <a:rPr lang="en-US" dirty="0" err="1"/>
              <a:t>prostoru</a:t>
            </a:r>
            <a:r>
              <a:rPr lang="hr-HR" dirty="0"/>
              <a:t>)</a:t>
            </a:r>
          </a:p>
          <a:p>
            <a:r>
              <a:rPr lang="hr-HR" dirty="0"/>
              <a:t>D</a:t>
            </a:r>
            <a:r>
              <a:rPr lang="en-US" dirty="0" err="1"/>
              <a:t>ovoljno</a:t>
            </a:r>
            <a:r>
              <a:rPr lang="en-US" dirty="0"/>
              <a:t> </a:t>
            </a:r>
            <a:r>
              <a:rPr lang="hr-HR" dirty="0"/>
              <a:t>će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uzeti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po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kut</a:t>
            </a:r>
            <a:r>
              <a:rPr lang="en-US" dirty="0"/>
              <a:t> od </a:t>
            </a:r>
            <a:r>
              <a:rPr lang="en-US" dirty="0" err="1"/>
              <a:t>bliskih</a:t>
            </a:r>
            <a:r>
              <a:rPr lang="hr-HR" dirty="0"/>
              <a:t> </a:t>
            </a:r>
            <a:r>
              <a:rPr lang="en-US" dirty="0" err="1"/>
              <a:t>kutova</a:t>
            </a:r>
            <a:endParaRPr lang="hr-HR" dirty="0"/>
          </a:p>
          <a:p>
            <a:r>
              <a:rPr lang="hr-HR" dirty="0"/>
              <a:t>Tri </a:t>
            </a:r>
            <a:r>
              <a:rPr lang="en-US" dirty="0" err="1"/>
              <a:t>opcije</a:t>
            </a:r>
            <a:r>
              <a:rPr lang="en-US" dirty="0"/>
              <a:t> za </a:t>
            </a:r>
            <a:r>
              <a:rPr lang="en-US" dirty="0" err="1"/>
              <a:t>rje</a:t>
            </a:r>
            <a:r>
              <a:rPr lang="hr-HR" dirty="0"/>
              <a:t>š</a:t>
            </a:r>
            <a:r>
              <a:rPr lang="en-US" dirty="0" err="1"/>
              <a:t>enje</a:t>
            </a:r>
            <a:r>
              <a:rPr lang="hr-HR" dirty="0"/>
              <a:t>: - </a:t>
            </a:r>
            <a:r>
              <a:rPr lang="en-US" dirty="0" err="1"/>
              <a:t>kut</a:t>
            </a:r>
            <a:r>
              <a:rPr lang="en-US" dirty="0"/>
              <a:t> </a:t>
            </a:r>
            <a:r>
              <a:rPr lang="hr-HR" dirty="0"/>
              <a:t>i </a:t>
            </a:r>
            <a:r>
              <a:rPr lang="en-US" dirty="0"/>
              <a:t>za </a:t>
            </a:r>
            <a:r>
              <a:rPr lang="en-US" dirty="0" err="1"/>
              <a:t>nisku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hr-HR" dirty="0"/>
              <a:t>za </a:t>
            </a:r>
            <a:r>
              <a:rPr lang="en-US" dirty="0" err="1"/>
              <a:t>visoku</a:t>
            </a:r>
            <a:r>
              <a:rPr lang="en-US" dirty="0"/>
              <a:t> </a:t>
            </a:r>
            <a:r>
              <a:rPr lang="en-US" dirty="0" err="1"/>
              <a:t>putanju</a:t>
            </a:r>
            <a:endParaRPr lang="hr-HR" dirty="0"/>
          </a:p>
          <a:p>
            <a:r>
              <a:rPr lang="hr-HR" dirty="0"/>
              <a:t>                                            -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kut</a:t>
            </a:r>
            <a:endParaRPr lang="hr-HR" dirty="0"/>
          </a:p>
          <a:p>
            <a:r>
              <a:rPr lang="hr-HR" dirty="0"/>
              <a:t>                                           </a:t>
            </a:r>
            <a:r>
              <a:rPr lang="en-US" dirty="0"/>
              <a:t> </a:t>
            </a:r>
            <a:r>
              <a:rPr lang="hr-HR" dirty="0"/>
              <a:t>- </a:t>
            </a:r>
            <a:r>
              <a:rPr lang="en-US" dirty="0" err="1"/>
              <a:t>nijedan</a:t>
            </a:r>
            <a:r>
              <a:rPr lang="en-US" dirty="0"/>
              <a:t> </a:t>
            </a:r>
            <a:r>
              <a:rPr lang="en-US" dirty="0" err="1"/>
              <a:t>kut</a:t>
            </a:r>
            <a:endParaRPr lang="hr-HR" dirty="0"/>
          </a:p>
          <a:p>
            <a:r>
              <a:rPr lang="hr-HR" dirty="0"/>
              <a:t>K</a:t>
            </a:r>
            <a:r>
              <a:rPr lang="en-US" dirty="0" err="1"/>
              <a:t>roz</a:t>
            </a:r>
            <a:r>
              <a:rPr lang="en-US" dirty="0"/>
              <a:t> </a:t>
            </a:r>
            <a:r>
              <a:rPr lang="en-US" dirty="0" err="1"/>
              <a:t>petlju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provjerene</a:t>
            </a:r>
            <a:r>
              <a:rPr lang="en-US" dirty="0"/>
              <a:t> </a:t>
            </a:r>
            <a:r>
              <a:rPr lang="en-US" dirty="0" err="1"/>
              <a:t>razlike</a:t>
            </a:r>
            <a:r>
              <a:rPr lang="en-US" dirty="0"/>
              <a:t> </a:t>
            </a:r>
            <a:r>
              <a:rPr lang="en-US" dirty="0" err="1"/>
              <a:t>izmedu</a:t>
            </a:r>
            <a:r>
              <a:rPr lang="en-US" dirty="0"/>
              <a:t> </a:t>
            </a:r>
            <a:r>
              <a:rPr lang="en-US" dirty="0" err="1"/>
              <a:t>kutova</a:t>
            </a:r>
            <a:r>
              <a:rPr lang="en-US" dirty="0"/>
              <a:t> </a:t>
            </a:r>
            <a:r>
              <a:rPr lang="en-US" dirty="0" err="1"/>
              <a:t>tako</a:t>
            </a:r>
            <a:r>
              <a:rPr lang="en-US" dirty="0"/>
              <a:t> da</a:t>
            </a:r>
            <a:r>
              <a:rPr lang="hr-HR" dirty="0"/>
              <a:t> </a:t>
            </a:r>
            <a:r>
              <a:rPr lang="en-US" dirty="0" err="1"/>
              <a:t>mo</a:t>
            </a:r>
            <a:r>
              <a:rPr lang="hr-HR" dirty="0"/>
              <a:t>ž</a:t>
            </a:r>
            <a:r>
              <a:rPr lang="en-US" dirty="0"/>
              <a:t>emo </a:t>
            </a:r>
            <a:r>
              <a:rPr lang="en-US" dirty="0" err="1"/>
              <a:t>odrediti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 li se o </a:t>
            </a:r>
            <a:r>
              <a:rPr lang="en-US" dirty="0" err="1"/>
              <a:t>dvije</a:t>
            </a:r>
            <a:r>
              <a:rPr lang="en-US" dirty="0"/>
              <a:t>, </a:t>
            </a:r>
            <a:r>
              <a:rPr lang="en-US" dirty="0" err="1"/>
              <a:t>jednoj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nijednoj</a:t>
            </a:r>
            <a:r>
              <a:rPr lang="en-US" dirty="0"/>
              <a:t> </a:t>
            </a:r>
            <a:r>
              <a:rPr lang="en-US" dirty="0" err="1"/>
              <a:t>putanji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65011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284F7-7DD0-4D0E-A2A6-FAECB7FDE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FDA33-26B8-4F5C-AF5B-E846FAF5E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426261" cy="1439821"/>
          </a:xfrm>
        </p:spPr>
        <p:txBody>
          <a:bodyPr/>
          <a:lstStyle/>
          <a:p>
            <a:r>
              <a:rPr lang="hr-HR" dirty="0"/>
              <a:t>R</a:t>
            </a:r>
            <a:r>
              <a:rPr lang="en-US" dirty="0" err="1"/>
              <a:t>ezultati</a:t>
            </a:r>
            <a:r>
              <a:rPr lang="en-US" dirty="0"/>
              <a:t> za </a:t>
            </a:r>
            <a:r>
              <a:rPr lang="en-US" dirty="0" err="1"/>
              <a:t>projektil</a:t>
            </a:r>
            <a:r>
              <a:rPr lang="en-US" dirty="0"/>
              <a:t> koji se </a:t>
            </a:r>
            <a:r>
              <a:rPr lang="en-US" dirty="0" err="1"/>
              <a:t>giba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hr-HR" dirty="0"/>
              <a:t> </a:t>
            </a:r>
            <a:r>
              <a:rPr lang="en-US" dirty="0" err="1"/>
              <a:t>ishodi</a:t>
            </a:r>
            <a:r>
              <a:rPr lang="hr-HR" dirty="0"/>
              <a:t>š</a:t>
            </a:r>
            <a:r>
              <a:rPr lang="en-US" dirty="0"/>
              <a:t>ta, v = 35m/s,</a:t>
            </a:r>
            <a:r>
              <a:rPr lang="hr-HR" dirty="0"/>
              <a:t> </a:t>
            </a:r>
            <a:r>
              <a:rPr lang="en-US" dirty="0"/>
              <a:t>m = 0.1kg, </a:t>
            </a:r>
            <a:r>
              <a:rPr lang="en-US" dirty="0" err="1"/>
              <a:t>oblika</a:t>
            </a:r>
            <a:r>
              <a:rPr lang="en-US" dirty="0"/>
              <a:t> </a:t>
            </a:r>
            <a:r>
              <a:rPr lang="en-US" dirty="0" err="1"/>
              <a:t>kocke</a:t>
            </a:r>
            <a:r>
              <a:rPr lang="en-US" dirty="0"/>
              <a:t> </a:t>
            </a:r>
            <a:r>
              <a:rPr lang="en-US" dirty="0" err="1"/>
              <a:t>brida</a:t>
            </a:r>
            <a:r>
              <a:rPr lang="en-US" dirty="0"/>
              <a:t> r = 12cm</a:t>
            </a:r>
            <a:r>
              <a:rPr lang="hr-HR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standardne</a:t>
            </a:r>
            <a:r>
              <a:rPr lang="en-US" dirty="0"/>
              <a:t> gusto</a:t>
            </a:r>
            <a:r>
              <a:rPr lang="hr-HR" dirty="0"/>
              <a:t>ć</a:t>
            </a:r>
            <a:r>
              <a:rPr lang="en-US" dirty="0"/>
              <a:t>e </a:t>
            </a:r>
            <a:r>
              <a:rPr lang="en-US" dirty="0" err="1"/>
              <a:t>zraka</a:t>
            </a:r>
            <a:r>
              <a:rPr lang="en-US" dirty="0"/>
              <a:t> </a:t>
            </a:r>
            <a:r>
              <a:rPr lang="en-US" dirty="0" err="1"/>
              <a:t>iznad</a:t>
            </a:r>
            <a:r>
              <a:rPr lang="en-US" dirty="0"/>
              <a:t> mora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temperaturi</a:t>
            </a:r>
            <a:r>
              <a:rPr lang="en-US" dirty="0"/>
              <a:t> od 15°C.</a:t>
            </a:r>
            <a:r>
              <a:rPr lang="hr-HR" dirty="0"/>
              <a:t> </a:t>
            </a:r>
          </a:p>
          <a:p>
            <a:r>
              <a:rPr lang="hr-HR" dirty="0"/>
              <a:t>K</a:t>
            </a:r>
            <a:r>
              <a:rPr lang="en-US" dirty="0" err="1"/>
              <a:t>oordinate</a:t>
            </a:r>
            <a:r>
              <a:rPr lang="hr-HR" dirty="0"/>
              <a:t> </a:t>
            </a:r>
            <a:r>
              <a:rPr lang="en-US" dirty="0"/>
              <a:t>(15,3) u m,</a:t>
            </a:r>
            <a:r>
              <a:rPr lang="hr-HR" dirty="0"/>
              <a:t>  </a:t>
            </a:r>
            <a:r>
              <a:rPr lang="en-US" dirty="0"/>
              <a:t>r = 1m.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32F433-0A18-477B-AF77-F580E9A4B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268" y="2405177"/>
            <a:ext cx="7805159" cy="358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00717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2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5C7CF-4E9A-43EA-9ABF-37E1324CB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Zaključak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A373C-C58B-4AA1-B45F-EF7C39A52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892" y="959358"/>
            <a:ext cx="6970183" cy="5120640"/>
          </a:xfrm>
        </p:spPr>
        <p:txBody>
          <a:bodyPr/>
          <a:lstStyle/>
          <a:p>
            <a:r>
              <a:rPr lang="hr-HR" dirty="0">
                <a:solidFill>
                  <a:schemeClr val="accent1">
                    <a:lumMod val="75000"/>
                  </a:schemeClr>
                </a:solidFill>
              </a:rPr>
              <a:t>O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tpor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zraka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vrlo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va</a:t>
            </a:r>
            <a:r>
              <a:rPr lang="hr-HR" dirty="0">
                <a:solidFill>
                  <a:schemeClr val="accent1">
                    <a:lumMod val="75000"/>
                  </a:schemeClr>
                </a:solidFill>
              </a:rPr>
              <a:t>ž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an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nezanemariv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faktor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pri</a:t>
            </a:r>
            <a:r>
              <a:rPr lang="hr-HR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kretanju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nekog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objekta</a:t>
            </a:r>
            <a:endParaRPr lang="hr-H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hr-HR" dirty="0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azli</a:t>
            </a:r>
            <a:r>
              <a:rPr lang="hr-HR" dirty="0">
                <a:solidFill>
                  <a:schemeClr val="accent1">
                    <a:lumMod val="75000"/>
                  </a:schemeClr>
                </a:solidFill>
              </a:rPr>
              <a:t>č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ita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geometrijska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svojstva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tijela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tako</a:t>
            </a:r>
            <a:r>
              <a:rPr lang="hr-HR" dirty="0">
                <a:solidFill>
                  <a:schemeClr val="accent1">
                    <a:lumMod val="75000"/>
                  </a:schemeClr>
                </a:solidFill>
              </a:rPr>
              <a:t>đ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er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izravno</a:t>
            </a:r>
            <a:r>
              <a:rPr lang="hr-HR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utje</a:t>
            </a:r>
            <a:r>
              <a:rPr lang="hr-HR" dirty="0">
                <a:solidFill>
                  <a:schemeClr val="accent1">
                    <a:lumMod val="75000"/>
                  </a:schemeClr>
                </a:solidFill>
              </a:rPr>
              <a:t>č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na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gibanje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tijela</a:t>
            </a:r>
            <a:endParaRPr lang="hr-H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hr-HR" dirty="0">
                <a:solidFill>
                  <a:schemeClr val="accent1">
                    <a:lumMod val="75000"/>
                  </a:schemeClr>
                </a:solidFill>
              </a:rPr>
              <a:t>Bez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adekvatne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r-HR" dirty="0">
                <a:solidFill>
                  <a:schemeClr val="accent1">
                    <a:lumMod val="75000"/>
                  </a:schemeClr>
                </a:solidFill>
              </a:rPr>
              <a:t>računalne opreme vrlo teško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rije</a:t>
            </a:r>
            <a:r>
              <a:rPr lang="hr-HR" dirty="0">
                <a:solidFill>
                  <a:schemeClr val="accent1">
                    <a:lumMod val="75000"/>
                  </a:schemeClr>
                </a:solidFill>
              </a:rPr>
              <a:t>šiti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problem</a:t>
            </a:r>
            <a:r>
              <a:rPr lang="hr-HR" dirty="0">
                <a:solidFill>
                  <a:schemeClr val="accent1">
                    <a:lumMod val="75000"/>
                  </a:schemeClr>
                </a:solidFill>
              </a:rPr>
              <a:t> -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programiranje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u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velikoj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pomo</a:t>
            </a:r>
            <a:r>
              <a:rPr lang="hr-HR" dirty="0">
                <a:solidFill>
                  <a:schemeClr val="accent1">
                    <a:lumMod val="75000"/>
                  </a:schemeClr>
                </a:solidFill>
              </a:rPr>
              <a:t>ći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80540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2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6A1207-58A0-4695-A86D-659019CD1DBE}"/>
              </a:ext>
            </a:extLst>
          </p:cNvPr>
          <p:cNvSpPr txBox="1"/>
          <p:nvPr/>
        </p:nvSpPr>
        <p:spPr>
          <a:xfrm>
            <a:off x="1761565" y="2967335"/>
            <a:ext cx="8668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Hvala na pažnji!</a:t>
            </a: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7973660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Fra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9935E573-C197-41A8-BCA1-5D5F62C560B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75</TotalTime>
  <Words>459</Words>
  <Application>Microsoft Office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Cambria Math</vt:lpstr>
      <vt:lpstr>Corbel</vt:lpstr>
      <vt:lpstr>Times New Roman</vt:lpstr>
      <vt:lpstr>Wingdings 2</vt:lpstr>
      <vt:lpstr>Frame</vt:lpstr>
      <vt:lpstr>Kosi hitac različitih projektila s otporom zraka</vt:lpstr>
      <vt:lpstr>Sažetak </vt:lpstr>
      <vt:lpstr>Fizika problema</vt:lpstr>
      <vt:lpstr>Klasa </vt:lpstr>
      <vt:lpstr>Metoda računanja</vt:lpstr>
      <vt:lpstr>Pronalazak mogućih kutova</vt:lpstr>
      <vt:lpstr>Gibanje kugle i kocke</vt:lpstr>
      <vt:lpstr>Pogađanje mete</vt:lpstr>
      <vt:lpstr>PowerPoint Presentation</vt:lpstr>
      <vt:lpstr>Zaključak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Kosi hitac različitih projektila s otporom zraka</dc:title>
  <dc:creator>Katarina Filipović</dc:creator>
  <cp:lastModifiedBy>Katarina Filipović</cp:lastModifiedBy>
  <cp:revision>9</cp:revision>
  <dcterms:created xsi:type="dcterms:W3CDTF">2026-06-15T20:33:10Z</dcterms:created>
  <dcterms:modified xsi:type="dcterms:W3CDTF">2026-06-17T11:17:21Z</dcterms:modified>
</cp:coreProperties>
</file>